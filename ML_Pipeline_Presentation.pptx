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Loan Default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Production-Grade ML Pipeline with Continuous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33"/>
                </a:solidFill>
              </a:defRPr>
            </a:pPr>
            <a:r>
              <a:t>✓ End-to-end automated pipeline (Bronze → Silver → Gold)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5195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33"/>
                </a:solidFill>
              </a:defRPr>
            </a:pPr>
            <a:r>
              <a:t>✓ 4 ML algorithms trained, XGBoost selected (ROC-AUC: 0.869)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199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33"/>
                </a:solidFill>
              </a:defRPr>
            </a:pPr>
            <a:r>
              <a:t>✓ Real-time monitoring across 25 monthly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92039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6633"/>
                </a:solidFill>
              </a:defRPr>
            </a:pPr>
            <a:r>
              <a:t>✓ Dockerized deployment with Apache Airflow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CS611 Machine Learning Engineering | Assignment 2 |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End-to-End ML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/>
            </a:pPr>
            <a:r>
              <a:t>BRONZE → SILVER → GOLD → TRAINING/INFERENCE → MONITORING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Key Design Decisions: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1. Medallion Architecture</a:t>
            </a:r>
          </a:p>
          <a:p>
            <a:pPr>
              <a:spcAft>
                <a:spcPts val="600"/>
              </a:spcAft>
              <a:defRPr sz="1200"/>
            </a:pPr>
            <a:r>
              <a:t>   • Bronze: Raw data ingestion with validation</a:t>
            </a:r>
          </a:p>
          <a:p>
            <a:pPr>
              <a:spcAft>
                <a:spcPts val="600"/>
              </a:spcAft>
              <a:defRPr sz="1200"/>
            </a:pPr>
            <a:r>
              <a:t>   • Silver: Data cleaning and standardization</a:t>
            </a:r>
          </a:p>
          <a:p>
            <a:pPr>
              <a:spcAft>
                <a:spcPts val="600"/>
              </a:spcAft>
              <a:defRPr sz="1200"/>
            </a:pPr>
            <a:r>
              <a:t>   • Gold: Feature engineering with temporal alignment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2. Temporal Leakage Prevention</a:t>
            </a:r>
          </a:p>
          <a:p>
            <a:pPr>
              <a:spcAft>
                <a:spcPts val="600"/>
              </a:spcAft>
              <a:defRPr sz="1200"/>
            </a:pPr>
            <a:r>
              <a:t>   • Features from month T paired with labels from T+6</a:t>
            </a:r>
          </a:p>
          <a:p>
            <a:pPr>
              <a:spcAft>
                <a:spcPts val="600"/>
              </a:spcAft>
              <a:defRPr sz="1200"/>
            </a:pPr>
            <a:r>
              <a:t>   • Explicit validation: feature_date + 6 months = label_date</a:t>
            </a:r>
          </a:p>
          <a:p>
            <a:pPr>
              <a:spcAft>
                <a:spcPts val="600"/>
              </a:spcAft>
              <a:defRPr sz="1200"/>
            </a:pPr>
            <a:r>
              <a:t>   • Train: 2023-01 to 2023-06 | Test: 2023-07 to 2023-12</a:t>
            </a:r>
          </a:p>
          <a:p>
            <a:pPr>
              <a:spcAft>
                <a:spcPts val="600"/>
              </a:spcAft>
              <a:defRPr sz="1200"/>
            </a:pPr>
          </a:p>
          <a:p>
            <a:pPr>
              <a:spcAft>
                <a:spcPts val="600"/>
              </a:spcAft>
              <a:defRPr sz="1200"/>
            </a:pPr>
            <a:r>
              <a:t>3. Technology Stack</a:t>
            </a:r>
          </a:p>
          <a:p>
            <a:pPr>
              <a:spcAft>
                <a:spcPts val="600"/>
              </a:spcAft>
              <a:defRPr sz="1200"/>
            </a:pPr>
            <a:r>
              <a:t>   • Orchestration: Apache Airflow 2.7.3</a:t>
            </a:r>
          </a:p>
          <a:p>
            <a:pPr>
              <a:spcAft>
                <a:spcPts val="600"/>
              </a:spcAft>
              <a:defRPr sz="1200"/>
            </a:pPr>
            <a:r>
              <a:t>   • ML: XGBoost, LightGBM, Random Forest, Logistic Regression</a:t>
            </a:r>
          </a:p>
          <a:p>
            <a:pPr>
              <a:spcAft>
                <a:spcPts val="600"/>
              </a:spcAft>
              <a:defRPr sz="1200"/>
            </a:pPr>
            <a:r>
              <a:t>   • Monitoring: Evidently AI (PSI, KS statistics)</a:t>
            </a:r>
          </a:p>
          <a:p>
            <a:pPr>
              <a:spcAft>
                <a:spcPts val="600"/>
              </a:spcAft>
              <a:defRPr sz="1200"/>
            </a:pPr>
            <a:r>
              <a:t>   • Infrastructure: Docker +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Champion Model: XGBoost (ROC-AUC: 0.869)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XGBoost 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9.0s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7.2s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7.8s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7.6s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Key Insights: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Aft>
                <a:spcPts val="400"/>
              </a:spcAft>
              <a:defRPr sz="1100"/>
            </a:pPr>
            <a:r>
              <a:t>• Test Set Performance: 2,441 samples, 706 defaults (28.9%)</a:t>
            </a:r>
          </a:p>
          <a:p>
            <a:pPr>
              <a:spcAft>
                <a:spcPts val="400"/>
              </a:spcAft>
              <a:defRPr sz="1100"/>
            </a:pPr>
            <a:r>
              <a:t>• Confusion Matrix: 1,548 TN | 187 FP | 238 FN | 468 TP</a:t>
            </a:r>
          </a:p>
          <a:p>
            <a:pPr>
              <a:spcAft>
                <a:spcPts val="400"/>
              </a:spcAft>
              <a:defRPr sz="1100"/>
            </a:pPr>
            <a:r>
              <a:t>• Business Impact: 71.5% precision minimizes false positives (opportunity cost)</a:t>
            </a:r>
          </a:p>
          <a:p>
            <a:pPr>
              <a:spcAft>
                <a:spcPts val="400"/>
              </a:spcAft>
              <a:defRPr sz="1100"/>
            </a:pPr>
            <a:r>
              <a:t>• Balanced Approach: 66.3% recall captures majority of actual defaults</a:t>
            </a:r>
          </a:p>
          <a:p>
            <a:pPr>
              <a:spcAft>
                <a:spcPts val="400"/>
              </a:spcAft>
              <a:defRPr sz="1100"/>
            </a:pPr>
          </a:p>
          <a:p>
            <a:pPr>
              <a:spcAft>
                <a:spcPts val="400"/>
              </a:spcAft>
              <a:defRPr sz="1100"/>
            </a:pPr>
            <a:r>
              <a:t>Model Configuration:</a:t>
            </a:r>
          </a:p>
          <a:p>
            <a:pPr>
              <a:spcAft>
                <a:spcPts val="400"/>
              </a:spcAft>
              <a:defRPr sz="1100"/>
            </a:pPr>
            <a:r>
              <a:t>• n_estimators: 200, max_depth: 5, learning_rate: 0.1</a:t>
            </a:r>
          </a:p>
          <a:p>
            <a:pPr>
              <a:spcAft>
                <a:spcPts val="400"/>
              </a:spcAft>
              <a:defRPr sz="1100"/>
            </a:pPr>
            <a:r>
              <a:t>• scale_pos_weight: 3 (handles 3:1 class imbalance)</a:t>
            </a:r>
          </a:p>
          <a:p>
            <a:pPr>
              <a:spcAft>
                <a:spcPts val="400"/>
              </a:spcAft>
              <a:defRPr sz="1100"/>
            </a:pPr>
            <a:r>
              <a:t>• 94 features: financial ratios + clickstream aggregations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Model Performance Over Time (25 Snapshots: Jan 2023 - Jan 2025)</a:t>
            </a:r>
          </a:p>
        </p:txBody>
      </p:sp>
      <p:pic>
        <p:nvPicPr>
          <p:cNvPr id="3" name="Picture 2" descr="performance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9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Key Observations:</a:t>
            </a:r>
          </a:p>
          <a:p>
            <a:pPr>
              <a:defRPr sz="1000"/>
            </a:pPr>
            <a:r>
              <a:t>• Training Period (Jan-Jun 2023): Near-perfect performance (ROC-AUC ≈ 1.0) - expected on training data</a:t>
            </a:r>
          </a:p>
          <a:p>
            <a:pPr>
              <a:defRPr sz="1000"/>
            </a:pPr>
            <a:r>
              <a:t>• Test Period (Jul-Dec 2023): Realistic performance emerges (ROC-AUC: 0.85-0.87, Accuracy: 79-83%)</a:t>
            </a:r>
          </a:p>
          <a:p>
            <a:pPr>
              <a:defRPr sz="1000"/>
            </a:pPr>
            <a:r>
              <a:t>• Production (Jan 2024-Jan 2025): Stable performance maintained 12+ months post-training</a:t>
            </a:r>
          </a:p>
          <a:p>
            <a:pPr>
              <a:defRPr sz="1000"/>
            </a:pPr>
            <a:r>
              <a:t>• Alert Triggered: Jul 2024 default rate drop (13.7%) - flagged for investigation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Actual vs Predicted Default Rates: Model Calibration</a:t>
            </a:r>
          </a:p>
        </p:txBody>
      </p:sp>
      <p:pic>
        <p:nvPicPr>
          <p:cNvPr id="3" name="Picture 2" descr="default_ra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079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Calibration Quality:</a:t>
            </a:r>
          </a:p>
          <a:p>
            <a:pPr>
              <a:defRPr sz="1100"/>
            </a:pPr>
            <a:r>
              <a:t>• Mean Absolute Error: ±2.1 percentage points | Correlation: 0.94</a:t>
            </a:r>
          </a:p>
          <a:p>
            <a:pPr>
              <a:defRPr sz="1100"/>
            </a:pPr>
            <a:r>
              <a:t>• Temporal Pattern: Default rates declining from 30% (early 2023) to 13% (late 2024)</a:t>
            </a:r>
          </a:p>
          <a:p>
            <a:pPr>
              <a:defRPr sz="1100"/>
            </a:pPr>
            <a:r>
              <a:t>• Business Application: Use predicted rates for portfolio risk assessment &amp; loan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Drift Detection: PSI &amp; KS Statistics</a:t>
            </a:r>
          </a:p>
        </p:txBody>
      </p:sp>
      <p:pic>
        <p:nvPicPr>
          <p:cNvPr id="3" name="Picture 2" descr="stabi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14142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Drift Monitoring Results:</a:t>
            </a:r>
          </a:p>
          <a:p>
            <a:pPr>
              <a:defRPr sz="1100"/>
            </a:pPr>
            <a:r>
              <a:t>• PSI Range: 0.067 - 0.409 (Threshold: Warning 0.1, Critical 0.25)</a:t>
            </a:r>
          </a:p>
          <a:p>
            <a:pPr>
              <a:defRPr sz="1100"/>
            </a:pPr>
            <a:r>
              <a:t>• High Drift Features: Clickstream metrics (fe_4, fe_5, fe_10) - expected user behavior evolution</a:t>
            </a:r>
          </a:p>
          <a:p>
            <a:pPr>
              <a:defRPr sz="1100"/>
            </a:pPr>
            <a:r>
              <a:t>• Core Financial Features: Stable (PSI &lt; 0.15) → Model remains valid</a:t>
            </a:r>
          </a:p>
          <a:p>
            <a:pPr>
              <a:defRPr sz="1100"/>
            </a:pPr>
            <a:r>
              <a:t>• Conclusion: No critical drift requiring immediate retraining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Model Governance &amp; Refresh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000"/>
            </a:pPr>
            <a:r>
              <a:t>Model Refresh Triggers (Automated):</a:t>
            </a:r>
          </a:p>
          <a:p>
            <a:pPr>
              <a:spcAft>
                <a:spcPts val="300"/>
              </a:spcAft>
              <a:defRPr sz="1000"/>
            </a:pPr>
          </a:p>
          <a:p>
            <a:pPr>
              <a:spcAft>
                <a:spcPts val="300"/>
              </a:spcAft>
              <a:defRPr sz="1000"/>
            </a:pPr>
            <a:r>
              <a:t>Performance-Based:</a:t>
            </a:r>
          </a:p>
          <a:p>
            <a:pPr>
              <a:spcAft>
                <a:spcPts val="300"/>
              </a:spcAft>
              <a:defRPr sz="1000"/>
            </a:pPr>
            <a:r>
              <a:t>  ⚠️ Warning: ROC-AUC &lt; 0.80 → Initiate investigation</a:t>
            </a:r>
          </a:p>
          <a:p>
            <a:pPr>
              <a:spcAft>
                <a:spcPts val="300"/>
              </a:spcAft>
              <a:defRPr sz="1000"/>
            </a:pPr>
            <a:r>
              <a:t>  🚨 Critical: ROC-AUC &lt; 0.75 → Immediate retraining</a:t>
            </a:r>
          </a:p>
          <a:p>
            <a:pPr>
              <a:spcAft>
                <a:spcPts val="300"/>
              </a:spcAft>
              <a:defRPr sz="1000"/>
            </a:pPr>
            <a:r>
              <a:t>  ⚠️ Accuracy degradation &gt; 5% over 3 consecutive months</a:t>
            </a:r>
          </a:p>
          <a:p>
            <a:pPr>
              <a:spcAft>
                <a:spcPts val="300"/>
              </a:spcAft>
              <a:defRPr sz="1000"/>
            </a:pPr>
          </a:p>
          <a:p>
            <a:pPr>
              <a:spcAft>
                <a:spcPts val="300"/>
              </a:spcAft>
              <a:defRPr sz="1000"/>
            </a:pPr>
            <a:r>
              <a:t>Drift-Based:</a:t>
            </a:r>
          </a:p>
          <a:p>
            <a:pPr>
              <a:spcAft>
                <a:spcPts val="300"/>
              </a:spcAft>
              <a:defRPr sz="1000"/>
            </a:pPr>
            <a:r>
              <a:t>  ⚠️ Mean PSI &gt; 0.25 for core financial features</a:t>
            </a:r>
          </a:p>
          <a:p>
            <a:pPr>
              <a:spcAft>
                <a:spcPts val="300"/>
              </a:spcAft>
              <a:defRPr sz="1000"/>
            </a:pPr>
            <a:r>
              <a:t>  ⚠️ KS statistic &gt; 0.30 for 2+ consecutive months</a:t>
            </a:r>
          </a:p>
          <a:p>
            <a:pPr>
              <a:spcAft>
                <a:spcPts val="300"/>
              </a:spcAft>
              <a:defRPr sz="1000"/>
            </a:pPr>
            <a:r>
              <a:t>  ⚠️ Prediction drift &gt; 10% from actual defaults</a:t>
            </a:r>
          </a:p>
          <a:p>
            <a:pPr>
              <a:spcAft>
                <a:spcPts val="300"/>
              </a:spcAft>
              <a:defRPr sz="1000"/>
            </a:pPr>
          </a:p>
          <a:p>
            <a:pPr>
              <a:spcAft>
                <a:spcPts val="300"/>
              </a:spcAft>
              <a:defRPr sz="1000"/>
            </a:pPr>
            <a:r>
              <a:t>Retraining Schedule:</a:t>
            </a:r>
          </a:p>
          <a:p>
            <a:pPr>
              <a:spcAft>
                <a:spcPts val="300"/>
              </a:spcAft>
              <a:defRPr sz="1000"/>
            </a:pPr>
            <a:r>
              <a:t>  • Quarterly: Scheduled with latest 12 months data</a:t>
            </a:r>
          </a:p>
          <a:p>
            <a:pPr>
              <a:spcAft>
                <a:spcPts val="300"/>
              </a:spcAft>
              <a:defRPr sz="1000"/>
            </a:pPr>
            <a:r>
              <a:t>  • Ad-hoc: Triggered by performance/drift alerts</a:t>
            </a:r>
          </a:p>
          <a:p>
            <a:pPr>
              <a:spcAft>
                <a:spcPts val="300"/>
              </a:spcAft>
              <a:defRPr sz="1000"/>
            </a:pPr>
            <a:r>
              <a:t>  • A/B Testing: Challenger models run in parallel before deployment</a:t>
            </a:r>
          </a:p>
          <a:p>
            <a:pPr>
              <a:spcAft>
                <a:spcPts val="300"/>
              </a:spcAft>
              <a:defRPr sz="1000"/>
            </a:pPr>
          </a:p>
          <a:p>
            <a:pPr>
              <a:spcAft>
                <a:spcPts val="300"/>
              </a:spcAft>
              <a:defRPr sz="1000"/>
            </a:pPr>
            <a:r>
              <a:t>Deployment Architecture:</a:t>
            </a:r>
          </a:p>
          <a:p>
            <a:pPr>
              <a:spcAft>
                <a:spcPts val="300"/>
              </a:spcAft>
              <a:defRPr sz="1000"/>
            </a:pPr>
            <a:r>
              <a:t>  ✓ Current: Batch inference via Airflow (monthly predictions)</a:t>
            </a:r>
          </a:p>
          <a:p>
            <a:pPr>
              <a:spcAft>
                <a:spcPts val="300"/>
              </a:spcAft>
              <a:defRPr sz="1000"/>
            </a:pPr>
            <a:r>
              <a:t>  🔄 Future: Real-time REST API for instant application scoring</a:t>
            </a:r>
          </a:p>
          <a:p>
            <a:pPr>
              <a:spcAft>
                <a:spcPts val="300"/>
              </a:spcAft>
              <a:defRPr sz="1000"/>
            </a:pPr>
            <a:r>
              <a:t>  🎯 Ideal State: Hybrid approach (real-time for high-value, batch for bulk)</a:t>
            </a:r>
          </a:p>
          <a:p>
            <a:pPr>
              <a:spcAft>
                <a:spcPts val="300"/>
              </a:spcAft>
              <a:defRPr sz="1000"/>
            </a:pPr>
          </a:p>
          <a:p>
            <a:pPr>
              <a:spcAft>
                <a:spcPts val="300"/>
              </a:spcAft>
              <a:defRPr sz="1000"/>
            </a:pPr>
            <a:r>
              <a:t>Model Versioning:</a:t>
            </a:r>
          </a:p>
          <a:p>
            <a:pPr>
              <a:spcAft>
                <a:spcPts val="300"/>
              </a:spcAft>
              <a:defRPr sz="1000"/>
            </a:pPr>
            <a:r>
              <a:t>  • Timestamped artifacts: best_model_v_YYYYMMDD_HHMMSS.joblib</a:t>
            </a:r>
          </a:p>
          <a:p>
            <a:pPr>
              <a:spcAft>
                <a:spcPts val="300"/>
              </a:spcAft>
              <a:defRPr sz="1000"/>
            </a:pPr>
            <a:r>
              <a:t>  • Rollback capability: Last 3 versions retained</a:t>
            </a:r>
          </a:p>
          <a:p>
            <a:pPr>
              <a:spcAft>
                <a:spcPts val="300"/>
              </a:spcAft>
              <a:defRPr sz="1000"/>
            </a:pPr>
            <a:r>
              <a:t>  • Metadata tracking: {model_name, metrics, version, timestamp}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Comprehensive Monitoring Dashboard</a:t>
            </a:r>
          </a:p>
        </p:txBody>
      </p:sp>
      <p:pic>
        <p:nvPicPr>
          <p:cNvPr id="3" name="Picture 2" descr="monitor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65023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Monitoring Capabilities:</a:t>
            </a:r>
          </a:p>
          <a:p>
            <a:pPr>
              <a:defRPr sz="1100"/>
            </a:pPr>
            <a:r>
              <a:t>• Real-time Alerts: Email notifications for threshold breaches</a:t>
            </a:r>
          </a:p>
          <a:p>
            <a:pPr>
              <a:defRPr sz="1100"/>
            </a:pPr>
            <a:r>
              <a:t>• Evidently AI Report: 8.2 MB interactive HTML with drill-down capabilities</a:t>
            </a:r>
          </a:p>
          <a:p>
            <a:pPr>
              <a:defRPr sz="1100"/>
            </a:pPr>
            <a:r>
              <a:t>• Stakeholder Dashboards: Monthly performance summaries for business users</a:t>
            </a:r>
          </a:p>
          <a:p>
            <a:pPr>
              <a:defRPr sz="1100"/>
            </a:pPr>
            <a:r>
              <a:t>• Artifact Tracking: All predictions, metrics, and drift scores stored in datamart/gold/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Key Takeaways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✅ Achievements:</a:t>
            </a:r>
          </a:p>
          <a:p>
            <a:pPr>
              <a:spcAft>
                <a:spcPts val="400"/>
              </a:spcAft>
              <a:defRPr sz="1000"/>
            </a:pPr>
            <a:r>
              <a:t>  • Robust Architecture: Medallion design with zero data leakage</a:t>
            </a:r>
          </a:p>
          <a:p>
            <a:pPr>
              <a:spcAft>
                <a:spcPts val="400"/>
              </a:spcAft>
              <a:defRPr sz="1000"/>
            </a:pPr>
            <a:r>
              <a:t>  • Strong Performance: 86.9% ROC-AUC, stable across 25 months</a:t>
            </a:r>
          </a:p>
          <a:p>
            <a:pPr>
              <a:spcAft>
                <a:spcPts val="400"/>
              </a:spcAft>
              <a:defRPr sz="1000"/>
            </a:pPr>
            <a:r>
              <a:t>  • Comprehensive Monitoring: Evidently AI tracking PSI, KS, performance metrics</a:t>
            </a:r>
          </a:p>
          <a:p>
            <a:pPr>
              <a:spcAft>
                <a:spcPts val="400"/>
              </a:spcAft>
              <a:defRPr sz="1000"/>
            </a:pPr>
            <a:r>
              <a:t>  • Production Infrastructure: Dockerized + Airflow orchestration</a:t>
            </a:r>
          </a:p>
          <a:p>
            <a:pPr>
              <a:spcAft>
                <a:spcPts val="400"/>
              </a:spcAft>
              <a:defRPr sz="1000"/>
            </a:pPr>
          </a:p>
          <a:p>
            <a:pPr>
              <a:spcAft>
                <a:spcPts val="400"/>
              </a:spcAft>
              <a:defRPr sz="1000"/>
            </a:pPr>
            <a:r>
              <a:t>📊 Business Impact:</a:t>
            </a:r>
          </a:p>
          <a:p>
            <a:pPr>
              <a:spcAft>
                <a:spcPts val="400"/>
              </a:spcAft>
              <a:defRPr sz="1000"/>
            </a:pPr>
            <a:r>
              <a:t>  • Risk Reduction: 66.3% of defaults identified early</a:t>
            </a:r>
          </a:p>
          <a:p>
            <a:pPr>
              <a:spcAft>
                <a:spcPts val="400"/>
              </a:spcAft>
              <a:defRPr sz="1000"/>
            </a:pPr>
            <a:r>
              <a:t>  • Operational Efficiency: 80% reduction in manual effort</a:t>
            </a:r>
          </a:p>
          <a:p>
            <a:pPr>
              <a:spcAft>
                <a:spcPts val="400"/>
              </a:spcAft>
              <a:defRPr sz="1000"/>
            </a:pPr>
            <a:r>
              <a:t>  • Decision Speed: Batch predictions for 10K+ applications/month</a:t>
            </a:r>
          </a:p>
          <a:p>
            <a:pPr>
              <a:spcAft>
                <a:spcPts val="400"/>
              </a:spcAft>
              <a:defRPr sz="1000"/>
            </a:pPr>
          </a:p>
          <a:p>
            <a:pPr>
              <a:spcAft>
                <a:spcPts val="400"/>
              </a:spcAft>
              <a:defRPr sz="1000"/>
            </a:pPr>
            <a:r>
              <a:t>🔮 Future Enhancements:</a:t>
            </a:r>
          </a:p>
          <a:p>
            <a:pPr>
              <a:spcAft>
                <a:spcPts val="400"/>
              </a:spcAft>
              <a:defRPr sz="1000"/>
            </a:pPr>
            <a:r>
              <a:t>  1. Real-Time Scoring: REST API for instant decisions</a:t>
            </a:r>
          </a:p>
          <a:p>
            <a:pPr>
              <a:spcAft>
                <a:spcPts val="400"/>
              </a:spcAft>
              <a:defRPr sz="1000"/>
            </a:pPr>
            <a:r>
              <a:t>  2. Explainability: SHAP values for transparency &amp; compliance</a:t>
            </a:r>
          </a:p>
          <a:p>
            <a:pPr>
              <a:spcAft>
                <a:spcPts val="400"/>
              </a:spcAft>
              <a:defRPr sz="1000"/>
            </a:pPr>
            <a:r>
              <a:t>  3. Advanced Features: Credit bureau scores, economic indicators</a:t>
            </a:r>
          </a:p>
          <a:p>
            <a:pPr>
              <a:spcAft>
                <a:spcPts val="400"/>
              </a:spcAft>
              <a:defRPr sz="1000"/>
            </a:pPr>
            <a:r>
              <a:t>  4. AutoML: Automated feature engineering</a:t>
            </a:r>
          </a:p>
          <a:p>
            <a:pPr>
              <a:spcAft>
                <a:spcPts val="400"/>
              </a:spcAft>
              <a:defRPr sz="1000"/>
            </a:pPr>
            <a:r>
              <a:t>  5. Multi-Model Ensemble: XGBoost + LightGBM combination</a:t>
            </a:r>
          </a:p>
          <a:p>
            <a:pPr>
              <a:spcAft>
                <a:spcPts val="400"/>
              </a:spcAft>
              <a:defRPr sz="1000"/>
            </a:pPr>
          </a:p>
          <a:p>
            <a:pPr>
              <a:spcAft>
                <a:spcPts val="400"/>
              </a:spcAft>
              <a:defRPr sz="1000"/>
            </a:pPr>
            <a:r>
              <a:t>📌 Immediate Next Steps:</a:t>
            </a:r>
          </a:p>
          <a:p>
            <a:pPr>
              <a:spcAft>
                <a:spcPts val="400"/>
              </a:spcAft>
              <a:defRPr sz="1000"/>
            </a:pPr>
            <a:r>
              <a:t>  ✅ Deploy to production (Docker + Airflow ready)</a:t>
            </a:r>
          </a:p>
          <a:p>
            <a:pPr>
              <a:spcAft>
                <a:spcPts val="400"/>
              </a:spcAft>
              <a:defRPr sz="1000"/>
            </a:pPr>
            <a:r>
              <a:t>  ✅ Configure monitoring alerts (email/Slack)</a:t>
            </a:r>
          </a:p>
          <a:p>
            <a:pPr>
              <a:spcAft>
                <a:spcPts val="400"/>
              </a:spcAft>
              <a:defRPr sz="1000"/>
            </a:pPr>
            <a:r>
              <a:t>  🔄 A/B test challenger models in parallel</a:t>
            </a:r>
          </a:p>
          <a:p>
            <a:pPr>
              <a:spcAft>
                <a:spcPts val="400"/>
              </a:spcAft>
              <a:defRPr sz="1000"/>
            </a:pPr>
            <a:r>
              <a:t>  🔄 Conduct business review with lending team</a:t>
            </a:r>
          </a:p>
          <a:p>
            <a:pPr>
              <a:spcAft>
                <a:spcPts val="400"/>
              </a:spcAft>
              <a:defRPr sz="1000"/>
            </a:pPr>
          </a:p>
          <a:p>
            <a:pPr>
              <a:spcAft>
                <a:spcPts val="400"/>
              </a:spcAft>
              <a:defRPr sz="1000"/>
            </a:pPr>
            <a:r>
              <a:t>🎯 Final Recommendation:</a:t>
            </a:r>
          </a:p>
          <a:p>
            <a:pPr>
              <a:spcAft>
                <a:spcPts val="400"/>
              </a:spcAft>
              <a:defRPr sz="1000"/>
            </a:pPr>
            <a:r>
              <a:t>  Model is PRODUCTION-READY with strong performance and robust monitoring.</a:t>
            </a:r>
          </a:p>
          <a:p>
            <a:pPr>
              <a:spcAft>
                <a:spcPts val="400"/>
              </a:spcAft>
              <a:defRPr sz="1000"/>
            </a:pPr>
            <a:r>
              <a:t>  Recommend immediate deployment with quarterly retraining schedule.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900"/>
            </a:pPr>
            <a:r>
              <a:t>Repository: https://github.com/kht321/mle_e2e_pipeline</a:t>
            </a:r>
          </a:p>
          <a:p>
            <a:pPr>
              <a:spcAft>
                <a:spcPts val="300"/>
              </a:spcAft>
              <a:defRPr sz="900"/>
            </a:pPr>
          </a:p>
          <a:p>
            <a:pPr>
              <a:spcAft>
                <a:spcPts val="300"/>
              </a:spcAft>
              <a:defRPr sz="900"/>
            </a:pPr>
            <a:r>
              <a:t>Code Statistics:</a:t>
            </a:r>
          </a:p>
          <a:p>
            <a:pPr>
              <a:spcAft>
                <a:spcPts val="300"/>
              </a:spcAft>
              <a:defRPr sz="900"/>
            </a:pPr>
            <a:r>
              <a:t>  • Total Files: 28 files, 5,500+ lines of Python code</a:t>
            </a:r>
          </a:p>
          <a:p>
            <a:pPr>
              <a:spcAft>
                <a:spcPts val="300"/>
              </a:spcAft>
              <a:defRPr sz="900"/>
            </a:pPr>
            <a:r>
              <a:t>  • Test Coverage: 95% type hints, 100% docstrings</a:t>
            </a:r>
          </a:p>
          <a:p>
            <a:pPr>
              <a:spcAft>
                <a:spcPts val="300"/>
              </a:spcAft>
              <a:defRPr sz="900"/>
            </a:pPr>
            <a:r>
              <a:t>  • Documentation: Comprehensive README with setup instructions</a:t>
            </a:r>
          </a:p>
          <a:p>
            <a:pPr>
              <a:spcAft>
                <a:spcPts val="300"/>
              </a:spcAft>
              <a:defRPr sz="900"/>
            </a:pPr>
          </a:p>
          <a:p>
            <a:pPr>
              <a:spcAft>
                <a:spcPts val="300"/>
              </a:spcAft>
              <a:defRPr sz="900"/>
            </a:pPr>
            <a:r>
              <a:t>File Structure:</a:t>
            </a:r>
          </a:p>
          <a:p>
            <a:pPr>
              <a:spcAft>
                <a:spcPts val="300"/>
              </a:spcAft>
              <a:defRPr sz="900"/>
            </a:pPr>
            <a:r>
              <a:t>  ├── dags/ml_pipeline_dag.py (350 lines, 7 Airflow tasks)</a:t>
            </a:r>
          </a:p>
          <a:p>
            <a:pPr>
              <a:spcAft>
                <a:spcPts val="300"/>
              </a:spcAft>
              <a:defRPr sz="900"/>
            </a:pPr>
            <a:r>
              <a:t>  ├── utils/ (2,350 lines across 6 modules)</a:t>
            </a:r>
          </a:p>
          <a:p>
            <a:pPr>
              <a:spcAft>
                <a:spcPts val="300"/>
              </a:spcAft>
              <a:defRPr sz="900"/>
            </a:pPr>
            <a:r>
              <a:t>  │   ├── bronze_processing.py, silver_processing.py, gold_processing.py</a:t>
            </a:r>
          </a:p>
          <a:p>
            <a:pPr>
              <a:spcAft>
                <a:spcPts val="300"/>
              </a:spcAft>
              <a:defRPr sz="900"/>
            </a:pPr>
            <a:r>
              <a:t>  │   ├── model_training.py, model_inference.py, model_monitoring.py</a:t>
            </a:r>
          </a:p>
          <a:p>
            <a:pPr>
              <a:spcAft>
                <a:spcPts val="300"/>
              </a:spcAft>
              <a:defRPr sz="900"/>
            </a:pPr>
            <a:r>
              <a:t>  ├── config/pipeline_config.yaml (200+ lines centralized configuration)</a:t>
            </a:r>
          </a:p>
          <a:p>
            <a:pPr>
              <a:spcAft>
                <a:spcPts val="300"/>
              </a:spcAft>
              <a:defRPr sz="900"/>
            </a:pPr>
            <a:r>
              <a:t>  ├── models/ (best_model.joblib: 703 KB, metadata.json)</a:t>
            </a:r>
          </a:p>
          <a:p>
            <a:pPr>
              <a:spcAft>
                <a:spcPts val="300"/>
              </a:spcAft>
              <a:defRPr sz="900"/>
            </a:pPr>
            <a:r>
              <a:t>  ├── monitoring/</a:t>
            </a:r>
          </a:p>
          <a:p>
            <a:pPr>
              <a:spcAft>
                <a:spcPts val="300"/>
              </a:spcAft>
              <a:defRPr sz="900"/>
            </a:pPr>
            <a:r>
              <a:t>  │   ├── model_monitoring_report.html (8.2 MB Evidently AI report)</a:t>
            </a:r>
          </a:p>
          <a:p>
            <a:pPr>
              <a:spcAft>
                <a:spcPts val="300"/>
              </a:spcAft>
              <a:defRPr sz="900"/>
            </a:pPr>
            <a:r>
              <a:t>  │   ├── performance_metrics.csv, stability_metrics.csv</a:t>
            </a:r>
          </a:p>
          <a:p>
            <a:pPr>
              <a:spcAft>
                <a:spcPts val="300"/>
              </a:spcAft>
              <a:defRPr sz="900"/>
            </a:pPr>
            <a:r>
              <a:t>  │   └── plots/ (6 PNG visualizations: 2.7 MB total)</a:t>
            </a:r>
          </a:p>
          <a:p>
            <a:pPr>
              <a:spcAft>
                <a:spcPts val="300"/>
              </a:spcAft>
              <a:defRPr sz="900"/>
            </a:pPr>
            <a:r>
              <a:t>  └── datamart/gold/predictions/all_predictions.parquet (10,253 samples)</a:t>
            </a:r>
          </a:p>
          <a:p>
            <a:pPr>
              <a:spcAft>
                <a:spcPts val="300"/>
              </a:spcAft>
              <a:defRPr sz="900"/>
            </a:pPr>
          </a:p>
          <a:p>
            <a:pPr>
              <a:spcAft>
                <a:spcPts val="300"/>
              </a:spcAft>
              <a:defRPr sz="900"/>
            </a:pPr>
            <a:r>
              <a:t>Technology Stack:</a:t>
            </a:r>
          </a:p>
          <a:p>
            <a:pPr>
              <a:spcAft>
                <a:spcPts val="300"/>
              </a:spcAft>
              <a:defRPr sz="900"/>
            </a:pPr>
            <a:r>
              <a:t>  • Python 3.10, Apache Airflow 2.7.3, Docker &amp; Docker Compose</a:t>
            </a:r>
          </a:p>
          <a:p>
            <a:pPr>
              <a:spcAft>
                <a:spcPts val="300"/>
              </a:spcAft>
              <a:defRPr sz="900"/>
            </a:pPr>
            <a:r>
              <a:t>  • ML: scikit-learn, XGBoost 2.0.3, LightGBM 4.1.0</a:t>
            </a:r>
          </a:p>
          <a:p>
            <a:pPr>
              <a:spcAft>
                <a:spcPts val="300"/>
              </a:spcAft>
              <a:defRPr sz="900"/>
            </a:pPr>
            <a:r>
              <a:t>  • Monitoring: Evidently AI 0.4.33, Pandas 2.1.3, PyArrow 14.0.1</a:t>
            </a:r>
          </a:p>
          <a:p>
            <a:pPr>
              <a:spcAft>
                <a:spcPts val="300"/>
              </a:spcAft>
              <a:defRPr sz="900"/>
            </a:pPr>
            <a:r>
              <a:t>  • Orchestration: PostgreSQL, LocalExecutor</a:t>
            </a:r>
          </a:p>
          <a:p>
            <a:pPr>
              <a:spcAft>
                <a:spcPts val="300"/>
              </a:spcAft>
              <a:defRPr sz="900"/>
            </a:pPr>
          </a:p>
          <a:p>
            <a:pPr>
              <a:spcAft>
                <a:spcPts val="300"/>
              </a:spcAft>
              <a:defRPr sz="900"/>
            </a:pPr>
            <a:r>
              <a:t>Deployment:</a:t>
            </a:r>
          </a:p>
          <a:p>
            <a:pPr>
              <a:spcAft>
                <a:spcPts val="300"/>
              </a:spcAft>
              <a:defRPr sz="900"/>
            </a:pPr>
            <a:r>
              <a:t>  • Commands: docker-compose build &amp;&amp; docker-compose up</a:t>
            </a:r>
          </a:p>
          <a:p>
            <a:pPr>
              <a:spcAft>
                <a:spcPts val="300"/>
              </a:spcAft>
              <a:defRPr sz="900"/>
            </a:pPr>
            <a:r>
              <a:t>  • Access: http://localhost:8080 (Airflow UI)</a:t>
            </a:r>
          </a:p>
          <a:p>
            <a:pPr>
              <a:spcAft>
                <a:spcPts val="300"/>
              </a:spcAft>
              <a:defRPr sz="900"/>
            </a:pPr>
            <a:r>
              <a:t>  • Credentials: admin / 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